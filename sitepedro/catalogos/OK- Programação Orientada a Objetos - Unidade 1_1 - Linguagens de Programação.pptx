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9" r:id="rId1"/>
  </p:sldMasterIdLst>
  <p:sldIdLst>
    <p:sldId id="276" r:id="rId2"/>
    <p:sldId id="274" r:id="rId3"/>
    <p:sldId id="278" r:id="rId4"/>
    <p:sldId id="277" r:id="rId5"/>
    <p:sldId id="279" r:id="rId6"/>
    <p:sldId id="284" r:id="rId7"/>
    <p:sldId id="280" r:id="rId8"/>
    <p:sldId id="281" r:id="rId9"/>
    <p:sldId id="282" r:id="rId10"/>
    <p:sldId id="285" r:id="rId11"/>
    <p:sldId id="286" r:id="rId12"/>
    <p:sldId id="283" r:id="rId13"/>
    <p:sldId id="287" r:id="rId14"/>
    <p:sldId id="259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ina" initials="K" lastIdx="1" clrIdx="0">
    <p:extLst>
      <p:ext uri="{19B8F6BF-5375-455C-9EA6-DF929625EA0E}">
        <p15:presenceInfo xmlns:p15="http://schemas.microsoft.com/office/powerpoint/2012/main" userId="Karin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425"/>
    <a:srgbClr val="5C2034"/>
    <a:srgbClr val="EB8087"/>
    <a:srgbClr val="C22820"/>
    <a:srgbClr val="D9D9D9"/>
    <a:srgbClr val="FF7C80"/>
    <a:srgbClr val="CCCCFF"/>
    <a:srgbClr val="828282"/>
    <a:srgbClr val="D9B5E3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47" autoAdjust="0"/>
    <p:restoredTop sz="94660"/>
  </p:normalViewPr>
  <p:slideViewPr>
    <p:cSldViewPr snapToGrid="0">
      <p:cViewPr>
        <p:scale>
          <a:sx n="74" d="100"/>
          <a:sy n="74" d="100"/>
        </p:scale>
        <p:origin x="902" y="39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pa - Aula Conceit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m 16">
            <a:extLst>
              <a:ext uri="{FF2B5EF4-FFF2-40B4-BE49-F238E27FC236}">
                <a16:creationId xmlns:a16="http://schemas.microsoft.com/office/drawing/2014/main" xmlns="" id="{960338E3-00FA-7932-205D-BB38492D3C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ítulo 9">
            <a:extLst>
              <a:ext uri="{FF2B5EF4-FFF2-40B4-BE49-F238E27FC236}">
                <a16:creationId xmlns:a16="http://schemas.microsoft.com/office/drawing/2014/main" xmlns="" id="{643BB6EC-B6DE-06FF-BB3B-137135E88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4128" y="2501660"/>
            <a:ext cx="9118121" cy="726890"/>
          </a:xfrm>
        </p:spPr>
        <p:txBody>
          <a:bodyPr>
            <a:noAutofit/>
          </a:bodyPr>
          <a:lstStyle>
            <a:lvl1pPr algn="ctr">
              <a:defRPr sz="4800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Nome da Disciplina</a:t>
            </a: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5" hasCustomPrompt="1"/>
          </p:nvPr>
        </p:nvSpPr>
        <p:spPr>
          <a:xfrm>
            <a:off x="1543630" y="5886164"/>
            <a:ext cx="9118121" cy="457440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 dirty="0"/>
              <a:t>Professor(a):</a:t>
            </a:r>
          </a:p>
        </p:txBody>
      </p:sp>
      <p:sp>
        <p:nvSpPr>
          <p:cNvPr id="21" name="Espaço Reservado para Texto 20"/>
          <p:cNvSpPr>
            <a:spLocks noGrp="1"/>
          </p:cNvSpPr>
          <p:nvPr>
            <p:ph type="body" sz="quarter" idx="16" hasCustomPrompt="1"/>
          </p:nvPr>
        </p:nvSpPr>
        <p:spPr>
          <a:xfrm>
            <a:off x="11416619" y="890997"/>
            <a:ext cx="490457" cy="26079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rgbClr val="C00000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01</a:t>
            </a:r>
          </a:p>
        </p:txBody>
      </p:sp>
      <p:sp>
        <p:nvSpPr>
          <p:cNvPr id="22" name="Espaço Reservado para Texto 20"/>
          <p:cNvSpPr>
            <a:spLocks noGrp="1"/>
          </p:cNvSpPr>
          <p:nvPr>
            <p:ph type="body" sz="quarter" idx="17" hasCustomPrompt="1"/>
          </p:nvPr>
        </p:nvSpPr>
        <p:spPr>
          <a:xfrm>
            <a:off x="11417578" y="1204545"/>
            <a:ext cx="490457" cy="26079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rgbClr val="C00000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01</a:t>
            </a:r>
          </a:p>
        </p:txBody>
      </p:sp>
      <p:sp>
        <p:nvSpPr>
          <p:cNvPr id="2" name="Espaço Reservado para Texto 12">
            <a:extLst>
              <a:ext uri="{FF2B5EF4-FFF2-40B4-BE49-F238E27FC236}">
                <a16:creationId xmlns:a16="http://schemas.microsoft.com/office/drawing/2014/main" xmlns="" id="{93BB4C1B-8A6B-99BB-BA37-5FAFF8EA38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43630" y="3278258"/>
            <a:ext cx="9118121" cy="474663"/>
          </a:xfrm>
        </p:spPr>
        <p:txBody>
          <a:bodyPr>
            <a:noAutofit/>
          </a:bodyPr>
          <a:lstStyle>
            <a:lvl1pPr marL="228600" indent="-228600" algn="ctr">
              <a:buClr>
                <a:schemeClr val="bg1">
                  <a:lumMod val="75000"/>
                </a:schemeClr>
              </a:buClr>
              <a:buSzPct val="110000"/>
              <a:buFontTx/>
              <a:buBlip>
                <a:blip r:embed="rId3"/>
              </a:buBlip>
              <a:defRPr sz="30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 dirty="0"/>
              <a:t>Temática:</a:t>
            </a:r>
          </a:p>
        </p:txBody>
      </p:sp>
    </p:spTree>
    <p:extLst>
      <p:ext uri="{BB962C8B-B14F-4D97-AF65-F5344CB8AC3E}">
        <p14:creationId xmlns:p14="http://schemas.microsoft.com/office/powerpoint/2010/main" val="1105383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apa - Aula ao Viv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6CE391D5-15FC-7FBF-0003-F1D80F5A41B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2" y="0"/>
            <a:ext cx="12192000" cy="6858000"/>
          </a:xfrm>
          <a:prstGeom prst="rect">
            <a:avLst/>
          </a:prstGeom>
        </p:spPr>
      </p:pic>
      <p:sp>
        <p:nvSpPr>
          <p:cNvPr id="11" name="Espaço Reservado para Texto 20"/>
          <p:cNvSpPr>
            <a:spLocks noGrp="1"/>
          </p:cNvSpPr>
          <p:nvPr>
            <p:ph type="body" sz="quarter" idx="17" hasCustomPrompt="1"/>
          </p:nvPr>
        </p:nvSpPr>
        <p:spPr>
          <a:xfrm>
            <a:off x="11702561" y="137691"/>
            <a:ext cx="422031" cy="32741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pt-BR" dirty="0"/>
              <a:t>01</a:t>
            </a:r>
          </a:p>
        </p:txBody>
      </p:sp>
      <p:sp>
        <p:nvSpPr>
          <p:cNvPr id="4" name="Espaço Reservado para Texto 17">
            <a:extLst>
              <a:ext uri="{FF2B5EF4-FFF2-40B4-BE49-F238E27FC236}">
                <a16:creationId xmlns:a16="http://schemas.microsoft.com/office/drawing/2014/main" xmlns="" id="{E1F42C1E-0CE6-F464-8A0E-7AF1EA4899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43630" y="5842201"/>
            <a:ext cx="9118121" cy="474663"/>
          </a:xfrm>
        </p:spPr>
        <p:txBody>
          <a:bodyPr>
            <a:noAutofit/>
          </a:bodyPr>
          <a:lstStyle>
            <a:lvl1pPr marL="0" indent="0" algn="ctr">
              <a:buNone/>
              <a:defRPr sz="28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 dirty="0"/>
              <a:t>Professor(a):</a:t>
            </a:r>
          </a:p>
        </p:txBody>
      </p:sp>
      <p:sp>
        <p:nvSpPr>
          <p:cNvPr id="5" name="Título 9">
            <a:extLst>
              <a:ext uri="{FF2B5EF4-FFF2-40B4-BE49-F238E27FC236}">
                <a16:creationId xmlns:a16="http://schemas.microsoft.com/office/drawing/2014/main" xmlns="" id="{67E1B704-B97E-4385-00B0-4701B0463E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44128" y="2501660"/>
            <a:ext cx="9118121" cy="726890"/>
          </a:xfrm>
        </p:spPr>
        <p:txBody>
          <a:bodyPr>
            <a:noAutofit/>
          </a:bodyPr>
          <a:lstStyle>
            <a:lvl1pPr algn="ctr">
              <a:defRPr sz="4800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Nome da Disciplina</a:t>
            </a:r>
          </a:p>
        </p:txBody>
      </p:sp>
      <p:sp>
        <p:nvSpPr>
          <p:cNvPr id="6" name="Espaço Reservado para Texto 12">
            <a:extLst>
              <a:ext uri="{FF2B5EF4-FFF2-40B4-BE49-F238E27FC236}">
                <a16:creationId xmlns:a16="http://schemas.microsoft.com/office/drawing/2014/main" xmlns="" id="{AC5E1200-D626-3000-A6B1-DB52CF5183A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43630" y="3278258"/>
            <a:ext cx="9118121" cy="474663"/>
          </a:xfrm>
        </p:spPr>
        <p:txBody>
          <a:bodyPr>
            <a:noAutofit/>
          </a:bodyPr>
          <a:lstStyle>
            <a:lvl1pPr marL="228600" indent="-228600" algn="ctr">
              <a:buClr>
                <a:schemeClr val="bg1">
                  <a:lumMod val="75000"/>
                </a:schemeClr>
              </a:buClr>
              <a:buSzPct val="110000"/>
              <a:buFontTx/>
              <a:buBlip>
                <a:blip r:embed="rId3"/>
              </a:buBlip>
              <a:defRPr sz="30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pt-BR" dirty="0"/>
              <a:t>Temática:</a:t>
            </a:r>
          </a:p>
        </p:txBody>
      </p:sp>
    </p:spTree>
    <p:extLst>
      <p:ext uri="{BB962C8B-B14F-4D97-AF65-F5344CB8AC3E}">
        <p14:creationId xmlns:p14="http://schemas.microsoft.com/office/powerpoint/2010/main" val="2154832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2" y="6251321"/>
            <a:ext cx="11311824" cy="375993"/>
          </a:xfrm>
          <a:prstGeom prst="rect">
            <a:avLst/>
          </a:prstGeom>
        </p:spPr>
      </p:pic>
      <p:sp>
        <p:nvSpPr>
          <p:cNvPr id="6" name="Espaço Reservado para Número de Slide 2">
            <a:extLst>
              <a:ext uri="{FF2B5EF4-FFF2-40B4-BE49-F238E27FC236}">
                <a16:creationId xmlns:a16="http://schemas.microsoft.com/office/drawing/2014/main" xmlns="" id="{86128DE7-D6A6-4AB1-9870-10EBC3DBB2FD}"/>
              </a:ext>
            </a:extLst>
          </p:cNvPr>
          <p:cNvSpPr txBox="1">
            <a:spLocks/>
          </p:cNvSpPr>
          <p:nvPr userDrawn="1"/>
        </p:nvSpPr>
        <p:spPr>
          <a:xfrm>
            <a:off x="5852184" y="6487387"/>
            <a:ext cx="48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2A0AE8-7FE7-4E7E-92EB-E4F84B95CD97}" type="slidenum">
              <a:rPr lang="pt-BR" sz="11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pPr/>
              <a:t>‹nº›</a:t>
            </a:fld>
            <a:endParaRPr lang="pt-B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035111" y="-46339"/>
            <a:ext cx="1050656" cy="590994"/>
          </a:xfrm>
          <a:prstGeom prst="rect">
            <a:avLst/>
          </a:prstGeom>
        </p:spPr>
      </p:pic>
      <p:sp>
        <p:nvSpPr>
          <p:cNvPr id="13" name="Título 9">
            <a:extLst>
              <a:ext uri="{FF2B5EF4-FFF2-40B4-BE49-F238E27FC236}">
                <a16:creationId xmlns:a16="http://schemas.microsoft.com/office/drawing/2014/main" xmlns="" id="{643BB6EC-B6DE-06FF-BB3B-137135E88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572" y="693880"/>
            <a:ext cx="11311824" cy="72689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0" hasCustomPrompt="1"/>
          </p:nvPr>
        </p:nvSpPr>
        <p:spPr>
          <a:xfrm>
            <a:off x="437572" y="1543050"/>
            <a:ext cx="11311824" cy="44767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latin typeface="+mn-lt"/>
              </a:defRPr>
            </a:lvl1pPr>
          </a:lstStyle>
          <a:p>
            <a:pPr lvl="0"/>
            <a:r>
              <a:rPr lang="pt-BR" dirty="0"/>
              <a:t>Conteúdo</a:t>
            </a:r>
          </a:p>
        </p:txBody>
      </p:sp>
    </p:spTree>
    <p:extLst>
      <p:ext uri="{BB962C8B-B14F-4D97-AF65-F5344CB8AC3E}">
        <p14:creationId xmlns:p14="http://schemas.microsoft.com/office/powerpoint/2010/main" val="39533071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-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72" y="6251321"/>
            <a:ext cx="11311824" cy="375993"/>
          </a:xfrm>
          <a:prstGeom prst="rect">
            <a:avLst/>
          </a:prstGeom>
        </p:spPr>
      </p:pic>
      <p:sp>
        <p:nvSpPr>
          <p:cNvPr id="6" name="Espaço Reservado para Número de Slide 2">
            <a:extLst>
              <a:ext uri="{FF2B5EF4-FFF2-40B4-BE49-F238E27FC236}">
                <a16:creationId xmlns:a16="http://schemas.microsoft.com/office/drawing/2014/main" xmlns="" id="{86128DE7-D6A6-4AB1-9870-10EBC3DBB2FD}"/>
              </a:ext>
            </a:extLst>
          </p:cNvPr>
          <p:cNvSpPr txBox="1">
            <a:spLocks/>
          </p:cNvSpPr>
          <p:nvPr userDrawn="1"/>
        </p:nvSpPr>
        <p:spPr>
          <a:xfrm>
            <a:off x="5852184" y="6487387"/>
            <a:ext cx="482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ctr" defTabSz="914400" rtl="0" eaLnBrk="1" latinLnBrk="0" hangingPunct="1">
              <a:defRPr sz="12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92A0AE8-7FE7-4E7E-92EB-E4F84B95CD97}" type="slidenum">
              <a:rPr lang="pt-BR" sz="110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pPr/>
              <a:t>‹nº›</a:t>
            </a:fld>
            <a:endParaRPr lang="pt-BR" sz="1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1035111" y="-46339"/>
            <a:ext cx="1050656" cy="590994"/>
          </a:xfrm>
          <a:prstGeom prst="rect">
            <a:avLst/>
          </a:prstGeom>
        </p:spPr>
      </p:pic>
      <p:sp>
        <p:nvSpPr>
          <p:cNvPr id="13" name="Título 9">
            <a:extLst>
              <a:ext uri="{FF2B5EF4-FFF2-40B4-BE49-F238E27FC236}">
                <a16:creationId xmlns:a16="http://schemas.microsoft.com/office/drawing/2014/main" xmlns="" id="{643BB6EC-B6DE-06FF-BB3B-137135E883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7572" y="693880"/>
            <a:ext cx="11311824" cy="726890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rgbClr val="272425"/>
                </a:solidFill>
                <a:latin typeface="Century Gothic" panose="020B0502020202020204" pitchFamily="34" charset="0"/>
                <a:cs typeface="Calibri" panose="020F0502020204030204" pitchFamily="34" charset="0"/>
              </a:defRPr>
            </a:lvl1pPr>
          </a:lstStyle>
          <a:p>
            <a:r>
              <a:rPr lang="pt-BR" dirty="0"/>
              <a:t>Título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0" hasCustomPrompt="1"/>
          </p:nvPr>
        </p:nvSpPr>
        <p:spPr>
          <a:xfrm>
            <a:off x="4317910" y="1676843"/>
            <a:ext cx="3747566" cy="4172972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C22820"/>
                </a:solidFill>
                <a:latin typeface="+mn-lt"/>
              </a:defRPr>
            </a:lvl1pPr>
          </a:lstStyle>
          <a:p>
            <a:pPr lvl="0"/>
            <a:r>
              <a:rPr lang="pt-BR" dirty="0" smtClean="0"/>
              <a:t>Conteúdo</a:t>
            </a:r>
          </a:p>
          <a:p>
            <a:pPr lvl="0"/>
            <a:endParaRPr lang="pt-BR" dirty="0"/>
          </a:p>
        </p:txBody>
      </p:sp>
      <p:sp>
        <p:nvSpPr>
          <p:cNvPr id="7" name="Espaço Reservado para Conteúdo 8"/>
          <p:cNvSpPr>
            <a:spLocks noGrp="1"/>
          </p:cNvSpPr>
          <p:nvPr>
            <p:ph sz="quarter" idx="11" hasCustomPrompt="1"/>
          </p:nvPr>
        </p:nvSpPr>
        <p:spPr>
          <a:xfrm>
            <a:off x="8198248" y="1675749"/>
            <a:ext cx="3551148" cy="4174066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EB8087"/>
                </a:solidFill>
                <a:latin typeface="+mn-lt"/>
              </a:defRPr>
            </a:lvl1pPr>
          </a:lstStyle>
          <a:p>
            <a:pPr lvl="0"/>
            <a:r>
              <a:rPr lang="pt-BR" dirty="0" smtClean="0"/>
              <a:t>Conteúdo</a:t>
            </a:r>
          </a:p>
          <a:p>
            <a:pPr lvl="0"/>
            <a:endParaRPr lang="pt-BR" dirty="0"/>
          </a:p>
        </p:txBody>
      </p:sp>
      <p:sp>
        <p:nvSpPr>
          <p:cNvPr id="8" name="Espaço Reservado para Conteúdo 8"/>
          <p:cNvSpPr>
            <a:spLocks noGrp="1"/>
          </p:cNvSpPr>
          <p:nvPr>
            <p:ph sz="quarter" idx="12" hasCustomPrompt="1"/>
          </p:nvPr>
        </p:nvSpPr>
        <p:spPr>
          <a:xfrm>
            <a:off x="437572" y="1676843"/>
            <a:ext cx="3747566" cy="4172972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5C2034"/>
                </a:solidFill>
                <a:latin typeface="+mn-lt"/>
              </a:defRPr>
            </a:lvl1pPr>
          </a:lstStyle>
          <a:p>
            <a:pPr lvl="0"/>
            <a:r>
              <a:rPr lang="pt-BR" dirty="0" smtClean="0"/>
              <a:t>Conteúdo</a:t>
            </a:r>
          </a:p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710886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ide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81767A-CA09-4CA9-95E1-E28D95F4462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77B1BD-F62E-472B-B1B5-9891BAEF3453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1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1767A-CA09-4CA9-95E1-E28D95F44625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7B1BD-F62E-472B-B1B5-9891BAEF34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4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5" r:id="rId4"/>
    <p:sldLayoutId id="214748367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1B321EFD-450C-5479-72AB-62E5318DC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100" dirty="0" smtClean="0"/>
              <a:t>Programação Orientada a Objetos</a:t>
            </a:r>
            <a:endParaRPr lang="pt-BR" sz="4100" dirty="0"/>
          </a:p>
        </p:txBody>
      </p:sp>
      <p:sp>
        <p:nvSpPr>
          <p:cNvPr id="8" name="Espaço Reservado para Texto 7">
            <a:extLst>
              <a:ext uri="{FF2B5EF4-FFF2-40B4-BE49-F238E27FC236}">
                <a16:creationId xmlns:a16="http://schemas.microsoft.com/office/drawing/2014/main" xmlns="" id="{0801A3A5-200F-BD1D-E130-A111721717A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pt-BR" dirty="0" smtClean="0"/>
              <a:t>Professor: Elyssandro Piffer</a:t>
            </a:r>
            <a:endParaRPr lang="pt-BR" dirty="0"/>
          </a:p>
        </p:txBody>
      </p:sp>
      <p:sp>
        <p:nvSpPr>
          <p:cNvPr id="2" name="Espaço Reservado para Texto 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pt-BR" dirty="0" smtClean="0"/>
              <a:t>01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 smtClean="0"/>
              <a:t>01</a:t>
            </a:r>
            <a:endParaRPr lang="pt-BR" dirty="0"/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xmlns="" id="{3CA02170-222B-A0B6-30A8-EA1F5C7E08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43629" y="3228550"/>
            <a:ext cx="9118121" cy="474663"/>
          </a:xfrm>
        </p:spPr>
        <p:txBody>
          <a:bodyPr/>
          <a:lstStyle/>
          <a:p>
            <a:r>
              <a:rPr lang="pt-BR" dirty="0" smtClean="0"/>
              <a:t>Conceitos de Linguagem de Programação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84818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xmlns="" id="{41754159-6036-C0D6-0B01-26C41FDD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72" y="145240"/>
            <a:ext cx="11311824" cy="726890"/>
          </a:xfrm>
        </p:spPr>
        <p:txBody>
          <a:bodyPr/>
          <a:lstStyle/>
          <a:p>
            <a:r>
              <a:rPr lang="pt-BR" dirty="0" smtClean="0"/>
              <a:t>INTRODUÇÃO A LINGUAGEM DE PROGRAMAÇÃO</a:t>
            </a:r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xmlns="" id="{C97ECBD4-A84A-4B60-1A9E-F6EA7228F1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pt-BR" sz="3200" b="1" dirty="0" smtClean="0"/>
              <a:t>Compilador</a:t>
            </a:r>
            <a:r>
              <a:rPr lang="pt-BR" sz="3200" b="1" dirty="0"/>
              <a:t>:</a:t>
            </a:r>
          </a:p>
          <a:p>
            <a:r>
              <a:rPr lang="pt-BR" sz="3200" dirty="0"/>
              <a:t>•Gera arquivo executável.</a:t>
            </a:r>
          </a:p>
          <a:p>
            <a:r>
              <a:rPr lang="pt-BR" sz="3200" dirty="0"/>
              <a:t>•Não precisa do </a:t>
            </a:r>
            <a:r>
              <a:rPr lang="pt-BR" sz="3200" dirty="0" smtClean="0"/>
              <a:t>código fonte </a:t>
            </a:r>
            <a:r>
              <a:rPr lang="pt-BR" sz="3200" dirty="0"/>
              <a:t>e do compilador para executar.</a:t>
            </a:r>
          </a:p>
          <a:p>
            <a:r>
              <a:rPr lang="pt-BR" sz="3200" dirty="0"/>
              <a:t>•Compiladores diferentes para plataformas diferentes.</a:t>
            </a:r>
          </a:p>
          <a:p>
            <a:r>
              <a:rPr lang="pt-BR" sz="3200" dirty="0"/>
              <a:t>•Se alterar o </a:t>
            </a:r>
            <a:r>
              <a:rPr lang="pt-BR" sz="3200" dirty="0" smtClean="0"/>
              <a:t>código fonte</a:t>
            </a:r>
            <a:r>
              <a:rPr lang="pt-BR" sz="3200" dirty="0"/>
              <a:t>, precisa compilar novamente.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35698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pt-BR" sz="3200" b="1" dirty="0" smtClean="0"/>
              <a:t>Interpretador</a:t>
            </a:r>
            <a:r>
              <a:rPr lang="pt-BR" sz="3200" b="1" dirty="0"/>
              <a:t>:</a:t>
            </a:r>
          </a:p>
          <a:p>
            <a:r>
              <a:rPr lang="pt-BR" sz="3200" dirty="0"/>
              <a:t>•Gera o código de máquina através do código fonte.</a:t>
            </a:r>
          </a:p>
          <a:p>
            <a:r>
              <a:rPr lang="pt-BR" sz="3200" dirty="0"/>
              <a:t>•Lê o </a:t>
            </a:r>
            <a:r>
              <a:rPr lang="pt-BR" sz="3200" dirty="0" smtClean="0"/>
              <a:t>código fonte </a:t>
            </a:r>
            <a:r>
              <a:rPr lang="pt-BR" sz="3200" dirty="0"/>
              <a:t>toda vez que executa.</a:t>
            </a:r>
          </a:p>
          <a:p>
            <a:r>
              <a:rPr lang="pt-BR" sz="3200" dirty="0"/>
              <a:t>•Precisa do </a:t>
            </a:r>
            <a:r>
              <a:rPr lang="pt-BR" sz="3200" dirty="0" smtClean="0"/>
              <a:t>código fonte </a:t>
            </a:r>
            <a:r>
              <a:rPr lang="pt-BR" sz="3200" dirty="0"/>
              <a:t>e do interpretador para executar.</a:t>
            </a:r>
          </a:p>
          <a:p>
            <a:r>
              <a:rPr lang="pt-BR" sz="3200" dirty="0"/>
              <a:t>•Interpretadores diferentes para plataformas diferentes.</a:t>
            </a:r>
          </a:p>
          <a:p>
            <a:r>
              <a:rPr lang="pt-BR" sz="3200" dirty="0"/>
              <a:t>•Executa linha a linha.</a:t>
            </a:r>
          </a:p>
          <a:p>
            <a:endParaRPr lang="pt-BR" sz="3200" dirty="0"/>
          </a:p>
        </p:txBody>
      </p:sp>
      <p:sp>
        <p:nvSpPr>
          <p:cNvPr id="5" name="Título 5">
            <a:extLst>
              <a:ext uri="{FF2B5EF4-FFF2-40B4-BE49-F238E27FC236}">
                <a16:creationId xmlns:a16="http://schemas.microsoft.com/office/drawing/2014/main" xmlns="" id="{41754159-6036-C0D6-0B01-26C41FDD653D}"/>
              </a:ext>
            </a:extLst>
          </p:cNvPr>
          <p:cNvSpPr txBox="1">
            <a:spLocks/>
          </p:cNvSpPr>
          <p:nvPr/>
        </p:nvSpPr>
        <p:spPr>
          <a:xfrm>
            <a:off x="437572" y="145240"/>
            <a:ext cx="11311824" cy="726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2">
                    <a:lumMod val="25000"/>
                  </a:schemeClr>
                </a:solidFill>
                <a:latin typeface="Century Gothic" panose="020B050202020202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pt-BR" smtClean="0"/>
              <a:t>INTRODUÇÃO A LINGUAGEM DE PROGRAMAÇÃO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55238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pt-BR" sz="3200" b="1" dirty="0" smtClean="0"/>
              <a:t>Linguagem de: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Alto nível (melhor compreendida pelo ser humano)</a:t>
            </a:r>
            <a:endParaRPr lang="pt-BR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/>
              <a:t>Baixo </a:t>
            </a:r>
            <a:r>
              <a:rPr lang="pt-BR" sz="3200" dirty="0" smtClean="0"/>
              <a:t>nível (máquina compreende melhor)</a:t>
            </a:r>
          </a:p>
          <a:p>
            <a:endParaRPr lang="pt-BR" sz="3200" dirty="0"/>
          </a:p>
          <a:p>
            <a:r>
              <a:rPr lang="pt-BR" sz="3200" b="1" dirty="0" smtClean="0"/>
              <a:t>Linguagens: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Não </a:t>
            </a:r>
            <a:r>
              <a:rPr lang="pt-BR" sz="3200" dirty="0"/>
              <a:t>estruturadas.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Estruturadas ou Procedurais</a:t>
            </a:r>
            <a:r>
              <a:rPr lang="pt-BR" sz="32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Orientadas </a:t>
            </a:r>
            <a:r>
              <a:rPr lang="pt-BR" sz="3200" dirty="0"/>
              <a:t>a objetos.</a:t>
            </a:r>
          </a:p>
          <a:p>
            <a:endParaRPr lang="pt-BR" sz="3200" dirty="0"/>
          </a:p>
        </p:txBody>
      </p:sp>
      <p:sp>
        <p:nvSpPr>
          <p:cNvPr id="5" name="Título 5">
            <a:extLst>
              <a:ext uri="{FF2B5EF4-FFF2-40B4-BE49-F238E27FC236}">
                <a16:creationId xmlns:a16="http://schemas.microsoft.com/office/drawing/2014/main" xmlns="" id="{41754159-6036-C0D6-0B01-26C41FDD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72" y="145240"/>
            <a:ext cx="11311824" cy="726890"/>
          </a:xfrm>
        </p:spPr>
        <p:txBody>
          <a:bodyPr/>
          <a:lstStyle/>
          <a:p>
            <a:r>
              <a:rPr lang="pt-BR" dirty="0" smtClean="0"/>
              <a:t>INTRODUÇÃO A LINGUAGEM DE PROGRAMAÇÃO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1400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pt-BR" sz="3200" b="1" dirty="0" smtClean="0"/>
              <a:t>Linguagens </a:t>
            </a:r>
            <a:r>
              <a:rPr lang="pt-BR" sz="3200" b="1" dirty="0"/>
              <a:t>não </a:t>
            </a:r>
            <a:r>
              <a:rPr lang="pt-BR" sz="3200" b="1" dirty="0" smtClean="0"/>
              <a:t>estruturadas</a:t>
            </a:r>
          </a:p>
          <a:p>
            <a:endParaRPr lang="pt-BR" sz="3200" b="1" dirty="0"/>
          </a:p>
          <a:p>
            <a:r>
              <a:rPr lang="pt-BR" sz="3200" dirty="0" smtClean="0"/>
              <a:t>Ex</a:t>
            </a:r>
            <a:r>
              <a:rPr lang="pt-BR" sz="3200" dirty="0"/>
              <a:t>.: </a:t>
            </a:r>
            <a:r>
              <a:rPr lang="pt-BR" sz="3200" dirty="0" err="1" smtClean="0"/>
              <a:t>Cobol</a:t>
            </a:r>
            <a:r>
              <a:rPr lang="pt-BR" sz="3200" dirty="0" smtClean="0"/>
              <a:t> e </a:t>
            </a:r>
            <a:r>
              <a:rPr lang="pt-BR" sz="3200" dirty="0"/>
              <a:t>Basic. </a:t>
            </a:r>
            <a:endParaRPr lang="pt-BR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Desvios incondicionais.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Mudam </a:t>
            </a:r>
            <a:r>
              <a:rPr lang="pt-BR" sz="3200" dirty="0"/>
              <a:t>o fluxo da execução.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Podem </a:t>
            </a:r>
            <a:r>
              <a:rPr lang="pt-BR" sz="3200" dirty="0"/>
              <a:t>induzir </a:t>
            </a:r>
            <a:r>
              <a:rPr lang="pt-BR" sz="3200" dirty="0" smtClean="0"/>
              <a:t>a erros.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smtClean="0"/>
              <a:t>De </a:t>
            </a:r>
            <a:r>
              <a:rPr lang="pt-BR" sz="3200" dirty="0"/>
              <a:t>difícil manutenção</a:t>
            </a:r>
            <a:r>
              <a:rPr lang="pt-BR" sz="3200" dirty="0" smtClean="0"/>
              <a:t>.</a:t>
            </a:r>
            <a:endParaRPr lang="pt-BR" sz="3200" dirty="0"/>
          </a:p>
        </p:txBody>
      </p:sp>
      <p:sp>
        <p:nvSpPr>
          <p:cNvPr id="5" name="Título 5">
            <a:extLst>
              <a:ext uri="{FF2B5EF4-FFF2-40B4-BE49-F238E27FC236}">
                <a16:creationId xmlns:a16="http://schemas.microsoft.com/office/drawing/2014/main" xmlns="" id="{41754159-6036-C0D6-0B01-26C41FDD6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72" y="145240"/>
            <a:ext cx="11311824" cy="726890"/>
          </a:xfrm>
        </p:spPr>
        <p:txBody>
          <a:bodyPr/>
          <a:lstStyle/>
          <a:p>
            <a:r>
              <a:rPr lang="pt-BR" dirty="0" smtClean="0"/>
              <a:t>INTRODUÇÃO A LINGUAGEM DE PROGRAMAÇÃO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35546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32177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>
          <a:xfrm>
            <a:off x="437572" y="1136469"/>
            <a:ext cx="11311824" cy="4883331"/>
          </a:xfrm>
        </p:spPr>
        <p:txBody>
          <a:bodyPr>
            <a:noAutofit/>
          </a:bodyPr>
          <a:lstStyle/>
          <a:p>
            <a:r>
              <a:rPr lang="pt-BR" dirty="0" smtClean="0"/>
              <a:t>Analise </a:t>
            </a:r>
            <a:r>
              <a:rPr lang="pt-BR" dirty="0"/>
              <a:t>o código abaixo em </a:t>
            </a:r>
            <a:r>
              <a:rPr lang="pt-BR" dirty="0" smtClean="0"/>
              <a:t>Basic</a:t>
            </a:r>
          </a:p>
          <a:p>
            <a:endParaRPr lang="pt-BR" sz="1600" dirty="0"/>
          </a:p>
          <a:p>
            <a:r>
              <a:rPr lang="pt-BR" dirty="0"/>
              <a:t>10 </a:t>
            </a:r>
            <a:r>
              <a:rPr lang="pt-BR" dirty="0" smtClean="0"/>
              <a:t>	C </a:t>
            </a:r>
            <a:r>
              <a:rPr lang="pt-BR" dirty="0"/>
              <a:t>= 1</a:t>
            </a:r>
          </a:p>
          <a:p>
            <a:r>
              <a:rPr lang="pt-BR" dirty="0">
                <a:solidFill>
                  <a:srgbClr val="FF0000"/>
                </a:solidFill>
              </a:rPr>
              <a:t>20</a:t>
            </a:r>
            <a:r>
              <a:rPr lang="pt-BR" dirty="0"/>
              <a:t> </a:t>
            </a:r>
            <a:r>
              <a:rPr lang="pt-BR" dirty="0" smtClean="0"/>
              <a:t>	PRINT </a:t>
            </a:r>
            <a:r>
              <a:rPr lang="pt-BR" dirty="0"/>
              <a:t>C</a:t>
            </a:r>
          </a:p>
          <a:p>
            <a:r>
              <a:rPr lang="pt-BR" dirty="0"/>
              <a:t>30 </a:t>
            </a:r>
            <a:r>
              <a:rPr lang="pt-BR" dirty="0" smtClean="0"/>
              <a:t>	C </a:t>
            </a:r>
            <a:r>
              <a:rPr lang="pt-BR" dirty="0"/>
              <a:t>= C + 1</a:t>
            </a:r>
          </a:p>
          <a:p>
            <a:r>
              <a:rPr lang="en-US" dirty="0"/>
              <a:t>40 </a:t>
            </a:r>
            <a:r>
              <a:rPr lang="en-US" dirty="0" smtClean="0"/>
              <a:t>	IF </a:t>
            </a:r>
            <a:r>
              <a:rPr lang="en-US" dirty="0"/>
              <a:t>C &gt; 10 THEN </a:t>
            </a:r>
            <a:r>
              <a:rPr lang="en-US" dirty="0">
                <a:solidFill>
                  <a:srgbClr val="0070C0"/>
                </a:solidFill>
              </a:rPr>
              <a:t>GOTO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60</a:t>
            </a:r>
          </a:p>
          <a:p>
            <a:r>
              <a:rPr lang="pt-BR" dirty="0"/>
              <a:t>50 </a:t>
            </a:r>
            <a:r>
              <a:rPr lang="pt-BR" dirty="0" smtClean="0"/>
              <a:t>	</a:t>
            </a:r>
            <a:r>
              <a:rPr lang="pt-BR" dirty="0" smtClean="0">
                <a:solidFill>
                  <a:srgbClr val="FF0000"/>
                </a:solidFill>
              </a:rPr>
              <a:t>GOTO </a:t>
            </a:r>
            <a:r>
              <a:rPr lang="pt-BR" dirty="0">
                <a:solidFill>
                  <a:srgbClr val="FF0000"/>
                </a:solidFill>
              </a:rPr>
              <a:t>20</a:t>
            </a:r>
          </a:p>
          <a:p>
            <a:r>
              <a:rPr lang="pt-BR" dirty="0" smtClean="0">
                <a:solidFill>
                  <a:srgbClr val="0070C0"/>
                </a:solidFill>
              </a:rPr>
              <a:t>60</a:t>
            </a:r>
            <a:r>
              <a:rPr lang="pt-BR" dirty="0" smtClean="0"/>
              <a:t> 	PRINT </a:t>
            </a:r>
            <a:r>
              <a:rPr lang="pt-BR" dirty="0"/>
              <a:t>"</a:t>
            </a:r>
            <a:r>
              <a:rPr lang="pt-BR" dirty="0" smtClean="0"/>
              <a:t>TERMINEI“</a:t>
            </a:r>
          </a:p>
          <a:p>
            <a:pPr marL="514350" indent="-514350">
              <a:buAutoNum type="arabicPlain" startAt="60"/>
            </a:pPr>
            <a:endParaRPr lang="pt-BR" sz="1600" dirty="0"/>
          </a:p>
          <a:p>
            <a:r>
              <a:rPr lang="pt-BR" dirty="0" smtClean="0"/>
              <a:t>Imagine se </a:t>
            </a:r>
            <a:r>
              <a:rPr lang="pt-BR" dirty="0"/>
              <a:t>o usuário erre algum dos números de linhas de </a:t>
            </a:r>
            <a:r>
              <a:rPr lang="pt-BR" dirty="0" smtClean="0"/>
              <a:t>destino ou inclua uma linha a mais no decorrer do código?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6522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19114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>
          <a:xfrm>
            <a:off x="437572" y="1058091"/>
            <a:ext cx="11311824" cy="4961709"/>
          </a:xfrm>
        </p:spPr>
        <p:txBody>
          <a:bodyPr>
            <a:noAutofit/>
          </a:bodyPr>
          <a:lstStyle/>
          <a:p>
            <a:r>
              <a:rPr lang="pt-BR" sz="3200" b="1" dirty="0" smtClean="0"/>
              <a:t>Linguagens procedurais/estruturadas</a:t>
            </a:r>
            <a:endParaRPr lang="pt-BR" sz="3200" b="1" dirty="0"/>
          </a:p>
          <a:p>
            <a:endParaRPr lang="pt-BR" sz="3200" dirty="0"/>
          </a:p>
          <a:p>
            <a:r>
              <a:rPr lang="pt-BR" sz="3200" dirty="0" smtClean="0"/>
              <a:t>Ex</a:t>
            </a:r>
            <a:r>
              <a:rPr lang="pt-BR" sz="3200" dirty="0"/>
              <a:t>.: C e Pascal.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Funções </a:t>
            </a:r>
            <a:r>
              <a:rPr lang="pt-BR" sz="3200" dirty="0"/>
              <a:t>e procedimentos que “garantem” o retorno ao ponto imediatamente posterior ao ponto de sua chamada.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Blocos </a:t>
            </a:r>
            <a:r>
              <a:rPr lang="pt-BR" sz="3200" dirty="0"/>
              <a:t>de código (BEGIN/</a:t>
            </a:r>
            <a:r>
              <a:rPr lang="pt-BR" sz="3200" dirty="0" err="1"/>
              <a:t>END</a:t>
            </a:r>
            <a:r>
              <a:rPr lang="pt-BR" sz="3200" dirty="0"/>
              <a:t> ou </a:t>
            </a:r>
            <a:r>
              <a:rPr lang="pt-BR" sz="3200" dirty="0" smtClean="0"/>
              <a:t>{ }, </a:t>
            </a:r>
            <a:r>
              <a:rPr lang="pt-BR" sz="3200" dirty="0"/>
              <a:t>por exemplo).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Top/Down (de cima/ p/ baixo</a:t>
            </a:r>
            <a:r>
              <a:rPr lang="pt-BR" sz="3200" dirty="0"/>
              <a:t>) </a:t>
            </a:r>
            <a:r>
              <a:rPr lang="pt-BR" sz="3200" dirty="0" smtClean="0"/>
              <a:t>Sem </a:t>
            </a:r>
            <a:r>
              <a:rPr lang="pt-BR" sz="3200" dirty="0"/>
              <a:t>desvios incondicionais.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3200" dirty="0" smtClean="0"/>
              <a:t>Facilitam </a:t>
            </a:r>
            <a:r>
              <a:rPr lang="pt-BR" sz="3200" dirty="0"/>
              <a:t>a manutenção </a:t>
            </a:r>
            <a:r>
              <a:rPr lang="pt-BR" sz="3200" dirty="0" smtClean="0"/>
              <a:t>e </a:t>
            </a:r>
            <a:r>
              <a:rPr lang="pt-BR" sz="3200" dirty="0"/>
              <a:t>reutilização do código</a:t>
            </a:r>
            <a:r>
              <a:rPr lang="pt-BR" sz="3200" dirty="0" smtClean="0"/>
              <a:t>.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98157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19114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>
          <a:xfrm>
            <a:off x="221301" y="1052204"/>
            <a:ext cx="6245579" cy="4476750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 smtClean="0"/>
              <a:t>&gt;</a:t>
            </a:r>
          </a:p>
          <a:p>
            <a:endParaRPr lang="pt-BR" dirty="0"/>
          </a:p>
          <a:p>
            <a:r>
              <a:rPr lang="pt-BR" dirty="0" err="1" smtClean="0">
                <a:solidFill>
                  <a:srgbClr val="FF0000"/>
                </a:solidFill>
              </a:rPr>
              <a:t>int</a:t>
            </a:r>
            <a:r>
              <a:rPr lang="pt-BR" dirty="0" smtClean="0">
                <a:solidFill>
                  <a:srgbClr val="FF0000"/>
                </a:solidFill>
              </a:rPr>
              <a:t> </a:t>
            </a:r>
            <a:r>
              <a:rPr lang="pt-BR" dirty="0" err="1" smtClean="0">
                <a:solidFill>
                  <a:srgbClr val="FF0000"/>
                </a:solidFill>
              </a:rPr>
              <a:t>perguntaNota</a:t>
            </a:r>
            <a:r>
              <a:rPr lang="pt-BR" dirty="0" smtClean="0"/>
              <a:t>(char </a:t>
            </a:r>
            <a:r>
              <a:rPr lang="pt-BR" dirty="0"/>
              <a:t>pergunta</a:t>
            </a:r>
            <a:r>
              <a:rPr lang="pt-BR" dirty="0" smtClean="0"/>
              <a:t>[]);</a:t>
            </a:r>
          </a:p>
          <a:p>
            <a:endParaRPr lang="pt-BR" dirty="0"/>
          </a:p>
          <a:p>
            <a:r>
              <a:rPr lang="pt-BR" dirty="0" err="1" smtClean="0">
                <a:solidFill>
                  <a:srgbClr val="0070C0"/>
                </a:solidFill>
              </a:rPr>
              <a:t>float</a:t>
            </a:r>
            <a:r>
              <a:rPr lang="pt-BR" dirty="0" smtClean="0">
                <a:solidFill>
                  <a:srgbClr val="0070C0"/>
                </a:solidFill>
              </a:rPr>
              <a:t> </a:t>
            </a:r>
            <a:r>
              <a:rPr lang="pt-BR" dirty="0" err="1" smtClean="0">
                <a:solidFill>
                  <a:srgbClr val="0070C0"/>
                </a:solidFill>
              </a:rPr>
              <a:t>calculaMedia</a:t>
            </a:r>
            <a:r>
              <a:rPr lang="pt-BR" dirty="0" smtClean="0"/>
              <a:t>(intn1</a:t>
            </a:r>
            <a:r>
              <a:rPr lang="pt-BR" dirty="0"/>
              <a:t>, intn2);</a:t>
            </a:r>
          </a:p>
          <a:p>
            <a:r>
              <a:rPr lang="pt-BR" dirty="0" err="1"/>
              <a:t>main</a:t>
            </a:r>
            <a:r>
              <a:rPr lang="pt-BR" dirty="0"/>
              <a:t>() {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int</a:t>
            </a:r>
            <a:r>
              <a:rPr lang="pt-BR" dirty="0" smtClean="0"/>
              <a:t> n1 </a:t>
            </a:r>
            <a:r>
              <a:rPr lang="pt-BR" dirty="0"/>
              <a:t>= </a:t>
            </a:r>
            <a:r>
              <a:rPr lang="pt-BR" dirty="0" err="1">
                <a:solidFill>
                  <a:srgbClr val="FF0000"/>
                </a:solidFill>
              </a:rPr>
              <a:t>perguntaNota</a:t>
            </a:r>
            <a:r>
              <a:rPr lang="pt-BR" dirty="0"/>
              <a:t>("Nota do 1o. semestre? ");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int</a:t>
            </a:r>
            <a:r>
              <a:rPr lang="pt-BR" dirty="0" smtClean="0"/>
              <a:t> n2 </a:t>
            </a:r>
            <a:r>
              <a:rPr lang="pt-BR" dirty="0"/>
              <a:t>= </a:t>
            </a:r>
            <a:r>
              <a:rPr lang="pt-BR" dirty="0" err="1">
                <a:solidFill>
                  <a:srgbClr val="FF0000"/>
                </a:solidFill>
              </a:rPr>
              <a:t>perguntaNota</a:t>
            </a:r>
            <a:r>
              <a:rPr lang="pt-BR" dirty="0"/>
              <a:t>("Nota do 2o. semestre? ");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float</a:t>
            </a:r>
            <a:r>
              <a:rPr lang="pt-BR" dirty="0" smtClean="0"/>
              <a:t> media </a:t>
            </a:r>
            <a:r>
              <a:rPr lang="pt-BR" dirty="0"/>
              <a:t>= </a:t>
            </a:r>
            <a:r>
              <a:rPr lang="pt-BR" dirty="0" err="1">
                <a:solidFill>
                  <a:srgbClr val="0070C0"/>
                </a:solidFill>
              </a:rPr>
              <a:t>calculaMedia</a:t>
            </a:r>
            <a:r>
              <a:rPr lang="pt-BR" dirty="0"/>
              <a:t>(n1, n2);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printf</a:t>
            </a:r>
            <a:r>
              <a:rPr lang="pt-BR" dirty="0"/>
              <a:t>("\n");</a:t>
            </a:r>
          </a:p>
          <a:p>
            <a:r>
              <a:rPr lang="pt-BR" dirty="0" smtClean="0"/>
              <a:t>    </a:t>
            </a:r>
            <a:r>
              <a:rPr lang="pt-BR" dirty="0" err="1" smtClean="0"/>
              <a:t>printf</a:t>
            </a:r>
            <a:r>
              <a:rPr lang="pt-BR" dirty="0"/>
              <a:t>("A média é %f", media);</a:t>
            </a:r>
          </a:p>
          <a:p>
            <a:r>
              <a:rPr lang="pt-BR" dirty="0"/>
              <a:t>}</a:t>
            </a:r>
          </a:p>
        </p:txBody>
      </p:sp>
      <p:sp>
        <p:nvSpPr>
          <p:cNvPr id="4" name="Espaço Reservado para Conteúdo 2"/>
          <p:cNvSpPr txBox="1">
            <a:spLocks/>
          </p:cNvSpPr>
          <p:nvPr/>
        </p:nvSpPr>
        <p:spPr>
          <a:xfrm>
            <a:off x="6688182" y="846004"/>
            <a:ext cx="5503817" cy="4651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000" dirty="0" err="1" smtClean="0">
                <a:solidFill>
                  <a:srgbClr val="FF0000"/>
                </a:solidFill>
              </a:rPr>
              <a:t>int</a:t>
            </a:r>
            <a:r>
              <a:rPr lang="pt-BR" sz="2000" dirty="0" smtClean="0">
                <a:solidFill>
                  <a:srgbClr val="FF0000"/>
                </a:solidFill>
              </a:rPr>
              <a:t> </a:t>
            </a:r>
            <a:r>
              <a:rPr lang="pt-BR" sz="2000" dirty="0" err="1" smtClean="0">
                <a:solidFill>
                  <a:srgbClr val="FF0000"/>
                </a:solidFill>
              </a:rPr>
              <a:t>perguntaNota</a:t>
            </a:r>
            <a:r>
              <a:rPr lang="pt-BR" sz="2000" dirty="0" smtClean="0"/>
              <a:t>(char </a:t>
            </a:r>
            <a:r>
              <a:rPr lang="pt-BR" sz="2000" dirty="0"/>
              <a:t>pergunta[]) {</a:t>
            </a:r>
          </a:p>
          <a:p>
            <a:r>
              <a:rPr lang="pt-BR" sz="2000" dirty="0" smtClean="0"/>
              <a:t>  </a:t>
            </a:r>
            <a:r>
              <a:rPr lang="pt-BR" sz="2000" dirty="0" err="1" smtClean="0"/>
              <a:t>int</a:t>
            </a:r>
            <a:r>
              <a:rPr lang="pt-BR" sz="2000" dirty="0" smtClean="0"/>
              <a:t> nota</a:t>
            </a:r>
            <a:r>
              <a:rPr lang="pt-BR" sz="2000" dirty="0"/>
              <a:t>;</a:t>
            </a:r>
          </a:p>
          <a:p>
            <a:r>
              <a:rPr lang="pt-BR" sz="2000" dirty="0" smtClean="0"/>
              <a:t>  do </a:t>
            </a:r>
            <a:r>
              <a:rPr lang="pt-BR" sz="2000" dirty="0"/>
              <a:t>{</a:t>
            </a:r>
          </a:p>
          <a:p>
            <a:r>
              <a:rPr lang="pt-BR" sz="2000" dirty="0" smtClean="0"/>
              <a:t>    </a:t>
            </a:r>
            <a:r>
              <a:rPr lang="pt-BR" sz="2000" dirty="0" err="1" smtClean="0"/>
              <a:t>printf</a:t>
            </a:r>
            <a:r>
              <a:rPr lang="pt-BR" sz="2000" dirty="0"/>
              <a:t>("%s", pergunta);</a:t>
            </a:r>
          </a:p>
          <a:p>
            <a:r>
              <a:rPr lang="pt-BR" sz="2000" dirty="0" smtClean="0"/>
              <a:t>    </a:t>
            </a:r>
            <a:r>
              <a:rPr lang="pt-BR" sz="2000" dirty="0" err="1" smtClean="0"/>
              <a:t>scanf</a:t>
            </a:r>
            <a:r>
              <a:rPr lang="pt-BR" sz="2000" dirty="0"/>
              <a:t>("%d", &amp;nota);</a:t>
            </a:r>
          </a:p>
          <a:p>
            <a:r>
              <a:rPr lang="en-US" sz="2000" dirty="0" smtClean="0"/>
              <a:t>    if</a:t>
            </a:r>
            <a:r>
              <a:rPr lang="en-US" sz="2000" dirty="0"/>
              <a:t>((nota &lt; 0) or(nota &gt; 10)) {</a:t>
            </a:r>
          </a:p>
          <a:p>
            <a:r>
              <a:rPr lang="pt-BR" sz="2000" dirty="0" smtClean="0"/>
              <a:t>      </a:t>
            </a:r>
            <a:r>
              <a:rPr lang="pt-BR" sz="2000" dirty="0" err="1" smtClean="0"/>
              <a:t>printf</a:t>
            </a:r>
            <a:r>
              <a:rPr lang="pt-BR" sz="2000" dirty="0"/>
              <a:t>("Informe uma nota entre 0 e 10\n\n");</a:t>
            </a:r>
          </a:p>
          <a:p>
            <a:r>
              <a:rPr lang="pt-BR" sz="2000" dirty="0" smtClean="0"/>
              <a:t>   }</a:t>
            </a:r>
            <a:endParaRPr lang="pt-BR" sz="2000" dirty="0"/>
          </a:p>
          <a:p>
            <a:r>
              <a:rPr lang="it-IT" sz="2000" dirty="0" smtClean="0"/>
              <a:t>  } </a:t>
            </a:r>
            <a:r>
              <a:rPr lang="it-IT" sz="2000" dirty="0"/>
              <a:t>while((nota &lt; 0) or(nota &gt; 10));</a:t>
            </a:r>
          </a:p>
          <a:p>
            <a:r>
              <a:rPr lang="pt-BR" sz="2000" dirty="0" smtClean="0"/>
              <a:t>  </a:t>
            </a:r>
            <a:r>
              <a:rPr lang="pt-BR" sz="2000" dirty="0" err="1" smtClean="0"/>
              <a:t>return</a:t>
            </a:r>
            <a:r>
              <a:rPr lang="pt-BR" sz="2000" dirty="0" smtClean="0"/>
              <a:t> nota</a:t>
            </a:r>
            <a:r>
              <a:rPr lang="pt-BR" sz="2000" dirty="0"/>
              <a:t>;</a:t>
            </a:r>
          </a:p>
          <a:p>
            <a:r>
              <a:rPr lang="pt-BR" sz="2000" dirty="0"/>
              <a:t>}</a:t>
            </a:r>
          </a:p>
          <a:p>
            <a:r>
              <a:rPr lang="pt-BR" sz="2000" dirty="0" err="1" smtClean="0">
                <a:solidFill>
                  <a:srgbClr val="0070C0"/>
                </a:solidFill>
              </a:rPr>
              <a:t>float</a:t>
            </a:r>
            <a:r>
              <a:rPr lang="pt-BR" sz="2000" dirty="0" smtClean="0">
                <a:solidFill>
                  <a:srgbClr val="0070C0"/>
                </a:solidFill>
              </a:rPr>
              <a:t> </a:t>
            </a:r>
            <a:r>
              <a:rPr lang="pt-BR" sz="2000" dirty="0" err="1" smtClean="0">
                <a:solidFill>
                  <a:srgbClr val="0070C0"/>
                </a:solidFill>
              </a:rPr>
              <a:t>calculaMedia</a:t>
            </a:r>
            <a:r>
              <a:rPr lang="pt-BR" sz="2000" dirty="0" smtClean="0"/>
              <a:t>(intn1</a:t>
            </a:r>
            <a:r>
              <a:rPr lang="pt-BR" sz="2000" dirty="0"/>
              <a:t>, intn2) {</a:t>
            </a:r>
          </a:p>
          <a:p>
            <a:r>
              <a:rPr lang="pt-BR" sz="2000" dirty="0" smtClean="0"/>
              <a:t>    </a:t>
            </a:r>
            <a:r>
              <a:rPr lang="pt-BR" sz="2000" dirty="0" err="1" smtClean="0"/>
              <a:t>return</a:t>
            </a:r>
            <a:r>
              <a:rPr lang="pt-BR" sz="2000" dirty="0" smtClean="0"/>
              <a:t>(n1 </a:t>
            </a:r>
            <a:r>
              <a:rPr lang="pt-BR" sz="2000" dirty="0"/>
              <a:t>+ n2) / 2.0;</a:t>
            </a:r>
          </a:p>
          <a:p>
            <a:r>
              <a:rPr lang="pt-BR" sz="2000" dirty="0"/>
              <a:t>}</a:t>
            </a:r>
            <a:endParaRPr lang="pt-BR" sz="1400" dirty="0"/>
          </a:p>
        </p:txBody>
      </p:sp>
      <p:cxnSp>
        <p:nvCxnSpPr>
          <p:cNvPr id="6" name="Conector reto 5"/>
          <p:cNvCxnSpPr/>
          <p:nvPr/>
        </p:nvCxnSpPr>
        <p:spPr>
          <a:xfrm>
            <a:off x="6245578" y="744582"/>
            <a:ext cx="1" cy="55731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342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58303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pt-BR" sz="2900" b="1" dirty="0" smtClean="0"/>
              <a:t>Linguagens </a:t>
            </a:r>
            <a:r>
              <a:rPr lang="pt-BR" sz="2900" b="1" dirty="0"/>
              <a:t>orientadas a objetos</a:t>
            </a:r>
          </a:p>
          <a:p>
            <a:r>
              <a:rPr lang="pt-BR" sz="2900" dirty="0" smtClean="0"/>
              <a:t>Ex</a:t>
            </a:r>
            <a:r>
              <a:rPr lang="pt-BR" sz="2900" dirty="0"/>
              <a:t>.: C++, C#, PHP, Java e </a:t>
            </a:r>
            <a:r>
              <a:rPr lang="pt-BR" sz="2900" dirty="0" err="1"/>
              <a:t>ObjectPascal</a:t>
            </a:r>
            <a:r>
              <a:rPr lang="pt-BR" sz="29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900" dirty="0" smtClean="0"/>
              <a:t>Suportam </a:t>
            </a:r>
            <a:r>
              <a:rPr lang="pt-BR" sz="2900" dirty="0"/>
              <a:t>o estilo de programação orientada a objetos (reuso/manutenção).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900" dirty="0" smtClean="0"/>
              <a:t>Simula </a:t>
            </a:r>
            <a:r>
              <a:rPr lang="pt-BR" sz="2900" dirty="0"/>
              <a:t>(1967).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900" dirty="0" err="1" smtClean="0"/>
              <a:t>Small</a:t>
            </a:r>
            <a:r>
              <a:rPr lang="pt-BR" sz="2900" dirty="0" smtClean="0"/>
              <a:t> Talk(1970</a:t>
            </a:r>
            <a:r>
              <a:rPr lang="pt-BR" sz="2900" dirty="0"/>
              <a:t>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900" dirty="0" smtClean="0"/>
              <a:t>C</a:t>
            </a:r>
            <a:r>
              <a:rPr lang="pt-BR" sz="2900" dirty="0"/>
              <a:t>++ é considerada híbrida, pois pode-se programar orientado a objetos ou não</a:t>
            </a:r>
            <a:r>
              <a:rPr lang="pt-BR" sz="2900" dirty="0" smtClean="0"/>
              <a:t>.</a:t>
            </a:r>
            <a:endParaRPr lang="pt-BR" sz="2900" dirty="0"/>
          </a:p>
        </p:txBody>
      </p:sp>
    </p:spTree>
    <p:extLst>
      <p:ext uri="{BB962C8B-B14F-4D97-AF65-F5344CB8AC3E}">
        <p14:creationId xmlns:p14="http://schemas.microsoft.com/office/powerpoint/2010/main" val="2557102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58303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>
          <a:xfrm>
            <a:off x="437572" y="885193"/>
            <a:ext cx="11311824" cy="5134607"/>
          </a:xfrm>
        </p:spPr>
        <p:txBody>
          <a:bodyPr>
            <a:noAutofit/>
          </a:bodyPr>
          <a:lstStyle/>
          <a:p>
            <a:pPr algn="just"/>
            <a:r>
              <a:rPr lang="pt-BR" sz="2600" b="1" dirty="0" smtClean="0"/>
              <a:t>Linguagem JAVA</a:t>
            </a:r>
            <a:endParaRPr lang="pt-BR" sz="2600" b="1" dirty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 smtClean="0"/>
              <a:t>Criada </a:t>
            </a:r>
            <a:r>
              <a:rPr lang="pt-BR" sz="2600" dirty="0"/>
              <a:t>em 1991 </a:t>
            </a:r>
            <a:r>
              <a:rPr lang="pt-BR" sz="2600" dirty="0" smtClean="0"/>
              <a:t>e utilizada </a:t>
            </a:r>
            <a:r>
              <a:rPr lang="pt-BR" sz="2600" dirty="0"/>
              <a:t>de forma mais efetiva a partir de 1995.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600" dirty="0" smtClean="0"/>
              <a:t>Muito </a:t>
            </a:r>
            <a:r>
              <a:rPr lang="pt-BR" sz="2600" dirty="0"/>
              <a:t>utilizada atualmente em vários </a:t>
            </a:r>
            <a:r>
              <a:rPr lang="pt-BR" sz="2600" dirty="0" smtClean="0"/>
              <a:t>ambientes</a:t>
            </a:r>
            <a:r>
              <a:rPr lang="pt-BR" sz="2600" dirty="0"/>
              <a:t>, pois </a:t>
            </a:r>
            <a:r>
              <a:rPr lang="pt-BR" sz="2600" u="sng" dirty="0"/>
              <a:t>torna o código mais modular, fácil de manter e </a:t>
            </a:r>
            <a:r>
              <a:rPr lang="pt-BR" sz="2600" u="sng" dirty="0" smtClean="0"/>
              <a:t>escalável </a:t>
            </a:r>
            <a:r>
              <a:rPr lang="pt-BR" sz="2600" dirty="0" smtClean="0"/>
              <a:t>devido a adotar o </a:t>
            </a:r>
            <a:r>
              <a:rPr lang="pt-BR" sz="2600" dirty="0"/>
              <a:t>paradigma de Orientação a Objetos (</a:t>
            </a:r>
            <a:r>
              <a:rPr lang="pt-BR" sz="2600" dirty="0" err="1"/>
              <a:t>OO</a:t>
            </a:r>
            <a:r>
              <a:rPr lang="pt-BR" sz="2600" dirty="0"/>
              <a:t>), o que permite</a:t>
            </a:r>
            <a:r>
              <a:rPr lang="pt-BR" sz="2600" dirty="0" smtClean="0"/>
              <a:t>:</a:t>
            </a:r>
          </a:p>
          <a:p>
            <a:pPr marL="1143000" lvl="1" indent="-457200" algn="just"/>
            <a:r>
              <a:rPr lang="pt-BR" sz="2600" u="sng" dirty="0" smtClean="0"/>
              <a:t>Abstração</a:t>
            </a:r>
            <a:r>
              <a:rPr lang="pt-BR" sz="2600" dirty="0"/>
              <a:t>: Focar nos aspectos essenciais do </a:t>
            </a:r>
            <a:r>
              <a:rPr lang="pt-BR" sz="2600" dirty="0" smtClean="0"/>
              <a:t>objeto.</a:t>
            </a:r>
          </a:p>
          <a:p>
            <a:pPr marL="1143000" lvl="1" indent="-457200" algn="just"/>
            <a:r>
              <a:rPr lang="pt-BR" sz="2600" u="sng" dirty="0" smtClean="0"/>
              <a:t>Encapsulamento</a:t>
            </a:r>
            <a:r>
              <a:rPr lang="pt-BR" sz="2600" dirty="0"/>
              <a:t>: </a:t>
            </a:r>
            <a:r>
              <a:rPr lang="pt-BR" sz="2600" dirty="0" smtClean="0"/>
              <a:t>Protege </a:t>
            </a:r>
            <a:r>
              <a:rPr lang="pt-BR" sz="2600" dirty="0"/>
              <a:t>a informação, "empacotando" dados e </a:t>
            </a:r>
            <a:r>
              <a:rPr lang="pt-BR" sz="2600" dirty="0" smtClean="0"/>
              <a:t>métodos.</a:t>
            </a:r>
          </a:p>
          <a:p>
            <a:pPr marL="1143000" lvl="1" indent="-457200" algn="just"/>
            <a:r>
              <a:rPr lang="pt-BR" sz="2600" u="sng" dirty="0" smtClean="0"/>
              <a:t>Herança</a:t>
            </a:r>
            <a:r>
              <a:rPr lang="pt-BR" sz="2600" dirty="0"/>
              <a:t>: Criar novas classes baseadas em classes </a:t>
            </a:r>
            <a:r>
              <a:rPr lang="pt-BR" sz="2600" dirty="0" smtClean="0"/>
              <a:t>existentes (reutilização </a:t>
            </a:r>
            <a:r>
              <a:rPr lang="pt-BR" sz="2600" dirty="0"/>
              <a:t>de </a:t>
            </a:r>
            <a:r>
              <a:rPr lang="pt-BR" sz="2600" dirty="0" smtClean="0"/>
              <a:t>código).</a:t>
            </a:r>
          </a:p>
          <a:p>
            <a:pPr marL="1143000" lvl="1" indent="-457200" algn="just"/>
            <a:r>
              <a:rPr lang="pt-BR" sz="2600" u="sng" dirty="0" smtClean="0"/>
              <a:t>Polimorfismo</a:t>
            </a:r>
            <a:r>
              <a:rPr lang="pt-BR" sz="2600" dirty="0"/>
              <a:t>: Permitir que um único nome represente diferentes ações.</a:t>
            </a:r>
          </a:p>
          <a:p>
            <a:pPr lvl="1" algn="just"/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469654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58303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>
          <a:xfrm>
            <a:off x="117566" y="1058091"/>
            <a:ext cx="11631830" cy="4961709"/>
          </a:xfrm>
        </p:spPr>
        <p:txBody>
          <a:bodyPr>
            <a:noAutofit/>
          </a:bodyPr>
          <a:lstStyle/>
          <a:p>
            <a:pPr algn="just"/>
            <a:r>
              <a:rPr lang="pt-BR" sz="2900" b="1" dirty="0" smtClean="0"/>
              <a:t>Java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900" dirty="0" smtClean="0"/>
              <a:t>O </a:t>
            </a:r>
            <a:r>
              <a:rPr lang="pt-BR" sz="2900" dirty="0"/>
              <a:t>código Java é compilado para um formato intermediário chamado </a:t>
            </a:r>
            <a:r>
              <a:rPr lang="pt-BR" sz="2900" u="sng" dirty="0" err="1"/>
              <a:t>bytecode</a:t>
            </a:r>
            <a:r>
              <a:rPr lang="pt-BR" sz="2900" dirty="0"/>
              <a:t> (código de bytes</a:t>
            </a:r>
            <a:r>
              <a:rPr lang="pt-BR" sz="2900" dirty="0" smtClean="0"/>
              <a:t>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900" dirty="0" smtClean="0"/>
              <a:t>Este </a:t>
            </a:r>
            <a:r>
              <a:rPr lang="pt-BR" sz="2900" u="sng" dirty="0" err="1"/>
              <a:t>bytecode</a:t>
            </a:r>
            <a:r>
              <a:rPr lang="pt-BR" sz="2900" dirty="0"/>
              <a:t> não é executado diretamente pelo sistema operacional, mas sim pela Máquina Virtual Java (</a:t>
            </a:r>
            <a:r>
              <a:rPr lang="pt-BR" sz="2900" dirty="0" err="1"/>
              <a:t>JVM</a:t>
            </a:r>
            <a:r>
              <a:rPr lang="pt-BR" sz="2900" dirty="0" smtClean="0"/>
              <a:t>).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900" dirty="0" smtClean="0"/>
              <a:t>Como </a:t>
            </a:r>
            <a:r>
              <a:rPr lang="pt-BR" sz="2900" dirty="0"/>
              <a:t>a </a:t>
            </a:r>
            <a:r>
              <a:rPr lang="pt-BR" sz="2900" dirty="0" err="1"/>
              <a:t>JVM</a:t>
            </a:r>
            <a:r>
              <a:rPr lang="pt-BR" sz="2900" dirty="0"/>
              <a:t> está disponível para a maioria dos sistemas operacionais (Windows, </a:t>
            </a:r>
            <a:r>
              <a:rPr lang="pt-BR" sz="2900" dirty="0" err="1"/>
              <a:t>macOS</a:t>
            </a:r>
            <a:r>
              <a:rPr lang="pt-BR" sz="2900" dirty="0"/>
              <a:t>, Linux, etc.), o mesmo código compilado pode rodar em qualquer lugar onde a </a:t>
            </a:r>
            <a:r>
              <a:rPr lang="pt-BR" sz="2900" dirty="0" err="1"/>
              <a:t>JVM</a:t>
            </a:r>
            <a:r>
              <a:rPr lang="pt-BR" sz="2900" dirty="0"/>
              <a:t> esteja instalada, sem precisar ser reescrito ou recompilado para cada plataforma.</a:t>
            </a:r>
          </a:p>
        </p:txBody>
      </p:sp>
    </p:spTree>
    <p:extLst>
      <p:ext uri="{BB962C8B-B14F-4D97-AF65-F5344CB8AC3E}">
        <p14:creationId xmlns:p14="http://schemas.microsoft.com/office/powerpoint/2010/main" val="975162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71366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900" b="1" dirty="0"/>
              <a:t>Plataforma Java (Java Virtual </a:t>
            </a:r>
            <a:r>
              <a:rPr lang="pt-BR" sz="2900" b="1" dirty="0" err="1"/>
              <a:t>Machine</a:t>
            </a:r>
            <a:r>
              <a:rPr lang="pt-BR" sz="2900" b="1" dirty="0"/>
              <a:t> - </a:t>
            </a:r>
            <a:r>
              <a:rPr lang="pt-BR" sz="2900" b="1" dirty="0" err="1"/>
              <a:t>JVM</a:t>
            </a:r>
            <a:r>
              <a:rPr lang="pt-BR" sz="2900" b="1" dirty="0" smtClean="0"/>
              <a:t>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900" dirty="0" smtClean="0"/>
              <a:t>O </a:t>
            </a:r>
            <a:r>
              <a:rPr lang="pt-BR" sz="2900" dirty="0"/>
              <a:t>Java não é apenas uma </a:t>
            </a:r>
            <a:r>
              <a:rPr lang="pt-BR" sz="2900" dirty="0" smtClean="0"/>
              <a:t>linguagem, </a:t>
            </a:r>
            <a:r>
              <a:rPr lang="pt-BR" sz="2900" dirty="0"/>
              <a:t>é uma plataforma de software completa. </a:t>
            </a:r>
            <a:endParaRPr lang="pt-BR" sz="2900" dirty="0" smtClean="0"/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2900" dirty="0" smtClean="0"/>
              <a:t>A </a:t>
            </a:r>
            <a:r>
              <a:rPr lang="pt-BR" sz="2900" dirty="0" err="1"/>
              <a:t>JVM</a:t>
            </a:r>
            <a:r>
              <a:rPr lang="pt-BR" sz="2900" dirty="0"/>
              <a:t> é o componente central que garante a </a:t>
            </a:r>
            <a:r>
              <a:rPr lang="pt-BR" sz="2900" dirty="0" smtClean="0"/>
              <a:t>portabilidade </a:t>
            </a:r>
            <a:r>
              <a:rPr lang="pt-BR" sz="2900" dirty="0"/>
              <a:t>e também oferece outros </a:t>
            </a:r>
            <a:r>
              <a:rPr lang="pt-BR" sz="2900" dirty="0" smtClean="0"/>
              <a:t>recursos como gerenciamento </a:t>
            </a:r>
            <a:r>
              <a:rPr lang="pt-BR" sz="2900" dirty="0"/>
              <a:t>de </a:t>
            </a:r>
            <a:r>
              <a:rPr lang="pt-BR" sz="2900" dirty="0" smtClean="0"/>
              <a:t>memória automático e segurança, </a:t>
            </a:r>
            <a:r>
              <a:rPr lang="pt-BR" sz="2900" dirty="0"/>
              <a:t>que ajudam a proteger o sistema de código malicioso.</a:t>
            </a:r>
          </a:p>
        </p:txBody>
      </p:sp>
    </p:spTree>
    <p:extLst>
      <p:ext uri="{BB962C8B-B14F-4D97-AF65-F5344CB8AC3E}">
        <p14:creationId xmlns:p14="http://schemas.microsoft.com/office/powerpoint/2010/main" val="4121018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37572" y="171366"/>
            <a:ext cx="11311824" cy="726890"/>
          </a:xfrm>
        </p:spPr>
        <p:txBody>
          <a:bodyPr/>
          <a:lstStyle/>
          <a:p>
            <a:r>
              <a:rPr lang="pt-BR" dirty="0"/>
              <a:t>INTRODUÇÃO A LINGUAGEM DE PROGRAMAÇÃO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0"/>
          </p:nvPr>
        </p:nvSpPr>
        <p:spPr>
          <a:xfrm>
            <a:off x="437572" y="1071154"/>
            <a:ext cx="11311824" cy="4948646"/>
          </a:xfrm>
        </p:spPr>
        <p:txBody>
          <a:bodyPr>
            <a:noAutofit/>
          </a:bodyPr>
          <a:lstStyle/>
          <a:p>
            <a:pPr algn="just"/>
            <a:r>
              <a:rPr lang="pt-BR" b="1" dirty="0"/>
              <a:t>Amplamente </a:t>
            </a:r>
            <a:r>
              <a:rPr lang="pt-BR" b="1" dirty="0" smtClean="0"/>
              <a:t>Utilizada</a:t>
            </a:r>
            <a:endParaRPr lang="pt-BR" b="1" dirty="0"/>
          </a:p>
          <a:p>
            <a:pPr algn="just"/>
            <a:r>
              <a:rPr lang="pt-BR" u="sng" dirty="0" smtClean="0"/>
              <a:t>Desenvolvimento </a:t>
            </a:r>
            <a:r>
              <a:rPr lang="pt-BR" u="sng" dirty="0"/>
              <a:t>de Aplicativos </a:t>
            </a:r>
            <a:r>
              <a:rPr lang="pt-BR" u="sng" dirty="0" err="1"/>
              <a:t>Android</a:t>
            </a:r>
            <a:r>
              <a:rPr lang="pt-BR" dirty="0"/>
              <a:t>: A linguagem Java forma o núcleo do desenvolvimento de aplicativos nativos para o sistema operacional móvel mais usado do mundo.</a:t>
            </a:r>
          </a:p>
          <a:p>
            <a:pPr algn="just"/>
            <a:r>
              <a:rPr lang="pt-BR" u="sng" dirty="0"/>
              <a:t>Sistemas Empresariais (Enterprise)</a:t>
            </a:r>
            <a:r>
              <a:rPr lang="pt-BR" dirty="0"/>
              <a:t>: É a espinha dorsal de muitas aplicações corporativas, financeiras e de Big </a:t>
            </a:r>
            <a:r>
              <a:rPr lang="pt-BR" dirty="0" smtClean="0"/>
              <a:t>Data</a:t>
            </a:r>
          </a:p>
          <a:p>
            <a:pPr algn="just"/>
            <a:r>
              <a:rPr lang="pt-BR" u="sng" dirty="0" smtClean="0"/>
              <a:t>Web </a:t>
            </a:r>
            <a:r>
              <a:rPr lang="pt-BR" u="sng" dirty="0"/>
              <a:t>Back-</a:t>
            </a:r>
            <a:r>
              <a:rPr lang="pt-BR" u="sng" dirty="0" err="1"/>
              <a:t>end</a:t>
            </a:r>
            <a:r>
              <a:rPr lang="pt-BR" dirty="0"/>
              <a:t>: Muito usada para construir o lado do servidor de aplicações web.</a:t>
            </a:r>
          </a:p>
          <a:p>
            <a:pPr algn="just"/>
            <a:r>
              <a:rPr lang="pt-BR" u="sng" dirty="0"/>
              <a:t>Dispositivos Embarcados</a:t>
            </a:r>
            <a:r>
              <a:rPr lang="pt-BR" dirty="0"/>
              <a:t>: </a:t>
            </a:r>
            <a:r>
              <a:rPr lang="pt-BR" dirty="0" smtClean="0"/>
              <a:t>Em menor escala, </a:t>
            </a:r>
            <a:r>
              <a:rPr lang="pt-BR" dirty="0"/>
              <a:t>ainda é encontrado em dispositivos como consoles, equipamentos médicos e sistemas de controle.</a:t>
            </a:r>
          </a:p>
          <a:p>
            <a:pPr algn="just"/>
            <a:r>
              <a:rPr lang="pt-BR" u="sng" dirty="0"/>
              <a:t>Ciência de Dados e </a:t>
            </a:r>
            <a:r>
              <a:rPr lang="pt-BR" u="sng" dirty="0" err="1"/>
              <a:t>Machine</a:t>
            </a:r>
            <a:r>
              <a:rPr lang="pt-BR" u="sng" dirty="0"/>
              <a:t> Learning</a:t>
            </a:r>
            <a:r>
              <a:rPr lang="pt-BR" dirty="0"/>
              <a:t>: Devido à sua estabilidade e performance, possui bibliotecas e é usada em conjunto com outras linguagens.</a:t>
            </a:r>
          </a:p>
        </p:txBody>
      </p:sp>
    </p:spTree>
    <p:extLst>
      <p:ext uri="{BB962C8B-B14F-4D97-AF65-F5344CB8AC3E}">
        <p14:creationId xmlns:p14="http://schemas.microsoft.com/office/powerpoint/2010/main" val="65125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3981" cy="514348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73767" y="2359895"/>
              <a:ext cx="1596446" cy="4236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4097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</TotalTime>
  <Words>830</Words>
  <Application>Microsoft Office PowerPoint</Application>
  <PresentationFormat>Widescreen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Century Gothic</vt:lpstr>
      <vt:lpstr>1_Tema do Office</vt:lpstr>
      <vt:lpstr>Programação Orientada a Objetos</vt:lpstr>
      <vt:lpstr>INTRODUÇÃO A LINGUAGEM DE PROGRAMAÇÃO</vt:lpstr>
      <vt:lpstr>Apresentação do PowerPoint</vt:lpstr>
      <vt:lpstr>INTRODUÇÃO A LINGUAGEM DE PROGRAMAÇÃO</vt:lpstr>
      <vt:lpstr>INTRODUÇÃO A LINGUAGEM DE PROGRAMAÇÃO</vt:lpstr>
      <vt:lpstr>INTRODUÇÃO A LINGUAGEM DE PROGRAMAÇÃO</vt:lpstr>
      <vt:lpstr>INTRODUÇÃO A LINGUAGEM DE PROGRAMAÇÃO</vt:lpstr>
      <vt:lpstr>INTRODUÇÃO A LINGUAGEM DE PROGRAMAÇÃO</vt:lpstr>
      <vt:lpstr>INTRODUÇÃO A LINGUAGEM DE PROGRAMAÇÃO</vt:lpstr>
      <vt:lpstr>INTRODUÇÃO A LINGUAGEM DE PROGRAMAÇÃO</vt:lpstr>
      <vt:lpstr>INTRODUÇÃO A LINGUAGEM DE PROGRAMAÇÃO</vt:lpstr>
      <vt:lpstr>INTRODUÇÃO A LINGUAGEM DE PROGRAMAÇÃO</vt:lpstr>
      <vt:lpstr>INTRODUÇÃO A LINGUAGEM DE PROGRAMAÇÃO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Karina Silva Spinelli</dc:creator>
  <cp:lastModifiedBy>Karina Silva Spinelli</cp:lastModifiedBy>
  <cp:revision>55</cp:revision>
  <dcterms:created xsi:type="dcterms:W3CDTF">2025-07-25T18:11:14Z</dcterms:created>
  <dcterms:modified xsi:type="dcterms:W3CDTF">2025-11-13T10:57:57Z</dcterms:modified>
</cp:coreProperties>
</file>